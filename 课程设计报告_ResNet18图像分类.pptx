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微软雅黑"/>
              </a:defRPr>
            </a:pPr>
            <a:r>
              <a:t>基于 ResNet18 迁移学习的图像分类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  <a:latin typeface="微软雅黑"/>
              </a:defRPr>
            </a:pPr>
            <a:r>
              <a:t>——深度伪造检测在 OpenMMSec 数据集上的应用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课程设计报告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/>
              </a:defRPr>
            </a:pPr>
            <a:r>
              <a:t>PyTorch · ResNet18 · Transfer Learning · 202</a:t>
            </a:r>
            <a:r>
              <a:rPr lang="en-US"/>
              <a:t>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目 录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项目背景与意义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数据集介绍 —— OpenMMSec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技术路线概述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数据预处理与加载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特征提取与伪标签生成（K-means聚类）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模型结构 —— ResNet18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训练过程与超参数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实验结果与分析（Loss曲线 + Accuracy曲线）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预测结果展示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  <a:latin typeface="微软雅黑"/>
              </a:defRPr>
            </a:pPr>
            <a:r>
              <a:t>●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1. 项目背景与意义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随着 DeepSeek、GPT、LLaMA 等大模型的爆发式应用，AI 已深度融入金融、医疗、智能终端语音交互等核心领域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与此同时，深度伪造身份攻击（Deepfake）也随之成为全球性安全威胁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2025 全球 AI 攻防挑战赛由中国图象图形学学会、蚂蚁集团、云安全联盟 CSA 大中华区主办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聚焦金融、医疗、生活场景下的数字身份 AI 大模型智能交互认证安全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蚂蚁集团开源 OpenMMSec 多模态 AI 安全基准数据集，涵盖图像、视频、音频三大模态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本实验基于 OpenMMSec 图像子集，利用 ResNet18 迁移学习实现深度伪造检测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2. OpenMMSec 数据集介绍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OpenMMSec：开放式多模态 AI 安全基准数据集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覆盖图像、视频、音频三大场景，六个子赛题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图像子集包含大量真实人脸与 AI 生成人脸的对抗样本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图像规格：512×512 RGB JPEG，sRGB 色彩空间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本实验实验数据：25,000 张无标注图像</a:t>
            </a:r>
          </a:p>
          <a:p>
            <a:pPr>
              <a:spcAft>
                <a:spcPts val="1200"/>
              </a:spcAft>
              <a:defRPr sz="1800">
                <a:solidFill>
                  <a:srgbClr val="1A1A2E"/>
                </a:solidFill>
                <a:latin typeface="微软雅黑"/>
              </a:defRPr>
            </a:pPr>
            <a:r>
              <a:t>●  采用无监督方式（K-means 聚类）生成伪标签进行训练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引用：OpenMMSec 数据集, 2025 全球 AI 攻防挑战赛, https://openmmlab.com/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3. 技术路线概述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微软雅黑"/>
              </a:defRPr>
            </a:pPr>
            <a:r>
              <a:t>整体流程：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240279"/>
            <a:ext cx="365760" cy="3657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图像读取与预处理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将所有图片缩放至 224×224，归一化处理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108959"/>
            <a:ext cx="365760" cy="3657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632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预训练特征提取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832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加载 ResNet18（ImageNet 预训练），去除分类头，输出 512 维特征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977639"/>
            <a:ext cx="365760" cy="3657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K-means 聚类生成伪标签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519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利用特征向量聚类为 2 类（真实/伪造），生成训练标签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846320"/>
            <a:ext cx="365760" cy="3657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迁移学习训练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替换 ResNet18 最后一层为 2 分类，在伪标签上微调训练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714999"/>
            <a:ext cx="365760" cy="3657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669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/>
              </a:defRPr>
            </a:pPr>
            <a:r>
              <a:t>评估与可视化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9893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绘制 Loss/Accuracy 曲线，展示预测示例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4. 数据预处理——数据集读取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EFF"/>
                </a:solidFill>
                <a:latin typeface="微软雅黑"/>
              </a:defRPr>
            </a:pPr>
            <a:r>
              <a:t>自定义 Dataset（平铺文件结构，无需子目录）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94360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class ImageFolderFlat(Dataset):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"""读取单目录下所有图片，不使用子目录类结构"""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def __init__(self, root, transform=None, max_images=None):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all_files = sorted([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os.path.join(root, f) for f in os.listdir(root)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if f.lower().endswith(('.jpg', '.jpeg', '.png'))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])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if max_images and max_images &lt; len(all_files):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# 均匀采样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indices = np.linspace(0, len(all_files)-1, max_images, dtype=int)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self.samples = [all_files[i] for i in indices]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else: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self.samples = all_files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def __getitem__(self, idx):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path = self.samples[idx]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image = Image.open(path).convert('RGB')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if self.transform: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    image = self.transform(image)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return image, idx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25,000 张图片平铺在 0/ 目录下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支持 max_images 参数控制采样数（测试用）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使用 np.linspace 等距抽保持分布覆盖</a:t>
            </a:r>
          </a:p>
          <a:p>
            <a:pPr>
              <a:spcAft>
                <a:spcPts val="12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返回 (image, idx) 用于后续特征映射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4. 数据预处理——变换与增强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EFF"/>
                </a:solidFill>
                <a:latin typeface="微软雅黑"/>
              </a:defRPr>
            </a:pPr>
            <a:r>
              <a:t>训练集数据增强 vs 测试集数据变换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训练集数据增强：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0584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9692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# 训练集：缩放 + 随机水平翻转 + 颜色抖动 + 归一化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train_transform = transforms.Compose([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transforms.Resize((224, 224)),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transforms.RandomHorizontalFlip(),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transforms.ColorJitter(0.1, 0.1, 0.1, 0.05),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transforms.ToTensor(),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transforms.Normalize(mean=[0.485, 0.456, 0.406],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               std=[0.229, 0.224, 0.225])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测试集数据变换：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058400" cy="16459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692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# 测试集：仅缩放与归一化，不做数据增强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test_transform = transforms.Compose([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transforms.Resize((224, 224)),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transforms.ToTensor(),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transforms.Normalize(mean=[0.485, 0.456, 0.406],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               std=[0.229, 0.224, 0.225])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5. 特征提取——预训练 ResNet18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EFF"/>
                </a:solidFill>
                <a:latin typeface="微软雅黑"/>
              </a:defRPr>
            </a:pPr>
            <a:r>
              <a:t>加载 ImageNet 预训练权重，移除分类头，提取 512 维特征向量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40080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# 加载预训练 ResNet18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feature_model = models.resnet18(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weights=models.ResNet18_Weights.IMAGENET1K_V1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# 移除最后一层分类头，保留卷积特征提取部分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feature_model = nn.Sequential(*list(feature_model.children())[:-1])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feature_model = feature_model.to(DEVICE)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feature_model.eval()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# 批量提取特征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features = []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with torch.no_grad():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for images, _ in tqdm(loader):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feats = feature_model(images.to(DEVICE))  # (B,512,1,1)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feats = feats.view(feats.size(0), -1)      # (B,512)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features.append(feats.cpu().numpy())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features = np.concatenate(features, axis=0)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# 结果: (N, 512) 特征矩阵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输入: 224×224 RGB 图像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输出: 512 维特征向量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使用 torch.no_grad() 不计算梯度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最终特征矩阵: N×512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特征用于后续聚类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6. K-means 聚类与 t-SNE 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EFF"/>
                </a:solidFill>
                <a:latin typeface="微软雅黑"/>
              </a:defRPr>
            </a:pPr>
            <a:r>
              <a:t>K-means 聚类生成伪标签，t-SNE 降维可视化特征分布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1206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kmeans = KMeans(n_clusters=2, random_state=42, n_init=10)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pseudo_labels = kmeans.fit_predict(features)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tsne = TSNE(n_components=2, perplexity=30)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feats_2d = tsne.fit_transform(features_sample)</a:t>
            </a:r>
          </a:p>
        </p:txBody>
      </p:sp>
      <p:pic>
        <p:nvPicPr>
          <p:cNvPr id="8" name="Picture 7" descr="cluster_visualiz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475488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931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K=2 二分类（真实/伪造）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K-means 在 512 维特征空间聚类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t-SNE 降维到 2D 展示分布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两个聚类在特征空间中分离清晰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6. 伪标签生成与数据集划分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EFF"/>
                </a:solidFill>
                <a:latin typeface="微软雅黑"/>
              </a:defRPr>
            </a:pPr>
            <a:r>
              <a:t>基于伪标签构建训练/测试集（分层抽样）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40080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60350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class LabeledDataset(Dataset):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def __init__(self, image_paths, labels, transform=None):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self.labels = labels.astype(np.int64)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...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def __getitem__(self, idx):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img = Image.open(self.image_paths[idx]).convert('RGB')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if self.transform: img = self.transform(img)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    return img, torch.tensor(self.labels[idx], dtype=torch.long)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# 分层抽样，保持训练/测试集类别分布一致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train_paths, test_paths, train_labels, test_labels = train_test_split(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paths, pseudo_labels, test_size=0.2,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    random_state=42, stratify=pseudo_labels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使用 train_test_split 分层抽样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stratify=pseudo_labels 保持比例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80% 训练 / 20% 测试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标签转为 torch.long 兼容 CrossEntropyLoss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7. 模型架构——ResNet18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EFF"/>
                </a:solidFill>
                <a:latin typeface="微软雅黑"/>
              </a:defRPr>
            </a:pPr>
            <a:r>
              <a:t>深度残差网络（Residual Network）结构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0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37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224×224×3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731520" y="2176272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Conv1 (7×7)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76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112×112×64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76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stride=2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15184"/>
            <a:ext cx="548640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151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BatchNorm + ReLU + MaxPool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151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56×56×64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151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stride=2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54096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540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Layer1 (2× BasicBlock)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0540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56×56×64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0540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3×3 conv, 64 filters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93008"/>
            <a:ext cx="548640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930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Layer2 (2× BasicBlock)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28×28×128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stride=2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93192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Layer3 (2× BasicBlock)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14×14×256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stride=2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370831"/>
            <a:ext cx="548640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7083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Layer4 (2× BasicBlock)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7083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7×7×512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37083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stride=2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09744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097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Global Avg Pool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8097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1×1×512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8097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---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248656"/>
            <a:ext cx="5486400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24865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Fully Connected (替换)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2486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512 →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2486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原为 512→1000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687568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Softmax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6875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微软雅黑"/>
              </a:defRPr>
            </a:pPr>
            <a:r>
              <a:t>2-class prob.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6875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真实 / 伪造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  <a:latin typeface="微软雅黑"/>
              </a:defRPr>
            </a:pPr>
            <a:r>
              <a:t>●  18 层深度（17 卷积层 + 1 全连接）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  <a:latin typeface="微软雅黑"/>
              </a:defRPr>
            </a:pPr>
            <a:r>
              <a:t>●  残差连接（Skip Connection）缓解梯度消失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  <a:latin typeface="微软雅黑"/>
              </a:defRPr>
            </a:pPr>
            <a:r>
              <a:t>●  替换最后一层: 1000→2 分类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  <a:latin typeface="微软雅黑"/>
              </a:defRPr>
            </a:pPr>
            <a:r>
              <a:t>●  使用迁移学习，加载 ImageNet 预训练权重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FF"/>
                </a:solidFill>
                <a:latin typeface="微软雅黑"/>
              </a:defRPr>
            </a:pPr>
            <a:r>
              <a:t>模型修改代码：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572000"/>
            <a:ext cx="4754880" cy="16459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4663440"/>
            <a:ext cx="43891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model = models.resnet18(weights=IMAGENET1K_V1)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in_features = model.fc.in_features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model.fc = nn.Linear(in_features, 2)</a:t>
            </a:r>
          </a:p>
          <a:p>
            <a:pPr>
              <a:spcAft>
                <a:spcPts val="100"/>
              </a:spcAft>
              <a:defRPr sz="1100">
                <a:solidFill>
                  <a:srgbClr val="E0E0E0"/>
                </a:solidFill>
                <a:latin typeface="Consolas"/>
              </a:defRPr>
            </a:pPr>
            <a:r>
              <a:t>model = model.to(DEVICE)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7. 迁移学习原理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FF"/>
                </a:solidFill>
                <a:latin typeface="微软雅黑"/>
              </a:defRPr>
            </a:pPr>
            <a:r>
              <a:t>为什么使用迁移学习？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  <a:latin typeface="微软雅黑"/>
              </a:defRPr>
            </a:pPr>
            <a:r>
              <a:t>●  ImageNet 预训练模型已学到通用视觉特征（边缘、纹理、形状等底层特征）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  <a:latin typeface="微软雅黑"/>
              </a:defRPr>
            </a:pPr>
            <a:r>
              <a:t>●  通过微调，将这些特征迁移到目标任务（深度伪造检测）</a:t>
            </a:r>
          </a:p>
          <a:p>
            <a:pPr>
              <a:spcAft>
                <a:spcPts val="1200"/>
              </a:spcAft>
              <a:defRPr sz="1700">
                <a:solidFill>
                  <a:srgbClr val="1A1A2E"/>
                </a:solidFill>
                <a:latin typeface="微软雅黑"/>
              </a:defRPr>
            </a:pPr>
            <a:r>
              <a:t>●  相比随机初始化，迁移学习收敛更快、需要数据更少、泛化更好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FF"/>
                </a:solidFill>
                <a:latin typeface="微软雅黑"/>
              </a:defRPr>
            </a:pPr>
            <a:r>
              <a:t>迁移学习示意图：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ImageNet 预训练权重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503920" y="2560320"/>
            <a:ext cx="548640" cy="365760"/>
          </a:xfrm>
          <a:prstGeom prst="downArrow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5029200" cy="914400"/>
          </a:xfrm>
          <a:prstGeom prst="roundRect">
            <a:avLst/>
          </a:prstGeom>
          <a:solidFill>
            <a:srgbClr val="E8F0FE"/>
          </a:solidFill>
          <a:ln>
            <a:solidFill>
              <a:srgbClr val="0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微软雅黑"/>
              </a:defRPr>
            </a:pPr>
            <a:r>
              <a:t>冻结底层卷积层</a:t>
            </a:r>
            <a:br/>
            <a:r>
              <a:t>保留通用视觉特征</a:t>
            </a:r>
            <a:br/>
            <a:r>
              <a:t>→ 只训练高层 + 新分类头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503920" y="4023360"/>
            <a:ext cx="548640" cy="365760"/>
          </a:xfrm>
          <a:prstGeom prst="downArrow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4480560"/>
            <a:ext cx="5029200" cy="640080"/>
          </a:xfrm>
          <a:prstGeom prst="roundRect">
            <a:avLst/>
          </a:prstGeom>
          <a:solidFill>
            <a:srgbClr val="E0FFE0"/>
          </a:solidFill>
          <a:ln>
            <a:solidFill>
              <a:srgbClr val="00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🔹 新任务：深度伪造检测 (2分类)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8. 训练超参数与损失函数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058400" cy="47548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超参数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/>
              </a:defRPr>
            </a:pPr>
            <a:r>
              <a:t>设定值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74519"/>
            <a:ext cx="10058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20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BATCH_SIZE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202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每批 128 张图片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377440"/>
            <a:ext cx="10058400" cy="475488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23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训练轮数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880360"/>
            <a:ext cx="10058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Learning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26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0.001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Adam 优化器初始学习率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383280"/>
            <a:ext cx="10058400" cy="475488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Adam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429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自适应矩估计优化器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886200"/>
            <a:ext cx="10058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Loss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CrossEntropyLoss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多分类交叉熵损失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389120"/>
            <a:ext cx="10058400" cy="475488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Image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34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224×224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34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ResNet 标准输入尺寸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892040"/>
            <a:ext cx="10058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Train / Test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80% /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937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stratifed（分层）划分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394960"/>
            <a:ext cx="10058400" cy="475488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440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微软雅黑"/>
              </a:defRPr>
            </a:pPr>
            <a:r>
              <a:t>Clusters (K)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440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440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真实/伪造 二分类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8. 训练与评估函数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EFF"/>
                </a:solidFill>
                <a:latin typeface="微软雅黑"/>
              </a:defRPr>
            </a:pPr>
            <a:r>
              <a:t>训练函数（train_one_epoch）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3200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59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def train_one_epoch(model, loader, criterion, optimizer):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model.train()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for inputs, labels in loader: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inputs, labels = inputs.to(DEVICE), labels.to(DEVICE)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optimizer.zero_grad()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outputs = model(inputs)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loss = criterion(outputs, labels)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loss.backward()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optimizer.step()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# 记录 loss 和 accuracy...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EFF"/>
                </a:solidFill>
                <a:latin typeface="微软雅黑"/>
              </a:defRPr>
            </a:pPr>
            <a:r>
              <a:t>评估函数（evaluate）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03520" cy="2743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937759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def evaluate(model, loader, criterion):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model.eval()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with torch.no_grad():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for inputs, labels in loader: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  outputs = model(inputs)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  loss = criterion(outputs, labels)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  # 统计准确率...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return avg_loss,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微软雅黑"/>
              </a:defRPr>
            </a:pPr>
            <a:r>
              <a:t>●  训练模式下计算梯度，更新参数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微软雅黑"/>
              </a:defRPr>
            </a:pPr>
            <a:r>
              <a:t>●  评估模式下 torch.no_grad() 不计算梯度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微软雅黑"/>
              </a:defRPr>
            </a:pPr>
            <a:r>
              <a:t>●  每轮输出训练/测试的 Loss 和 Accuracy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  <a:latin typeface="微软雅黑"/>
              </a:defRPr>
            </a:pPr>
            <a:r>
              <a:t>●  GPU 训练加速（CPU 兼容）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8. 训练主循环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4008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6035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train_losses, train_accs = [], []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test_losses, test_accs = [], []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for epoch in range(1, EPOCHS + 1):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train_loss, train_acc = train_one_epoch(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model, train_loader, criterion, optimizer)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test_loss, test_acc = evaluate(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model, test_loader, criterion)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train_losses.append(train_loss)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test_losses.append(test_loss)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train_accs.append(train_acc)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test_accs.append(test_acc)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print(f"Epoch {epoch}/{EPOCHS}  "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f"Train Acc: {train_acc*100:.2f}%  "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          f"Test Acc: {test_acc*100:.2f}%")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EPOCHS=3 （已调优，最终测试准确率 94.66%）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每轮自动保存 Loss 和 Accuracy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最终用于绘制训练曲线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9. 实验结果——Loss 与 Accuracy 曲线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515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9. 可视化代码实现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64922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plt.figure(figsize=(12, 5))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# Loss 曲线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plt.subplot(1, 2, 1)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plt.plot(range(1, EPOCHS+1), train_losses, "b-o", label="Training Loss")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plt.plot(range(1, EPOCHS+1), test_losses, "r-o", label="Test Loss")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plt.xlabel("Epoch");  plt.ylabel("Loss")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plt.title("Loss 曲线");  plt.legend();  plt.grid(True)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# Accuracy 曲线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plt.subplot(1, 2, 2)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plt.plot(range(1, EPOCHS+1), train_accs, "b-o", label="Training Accuracy")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plt.plot(range(1, EPOCHS+1), test_accs, "r-o", label="Test Accuracy")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plt.xlabel("Epoch");  plt.ylabel("Accuracy")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plt.title("Accuracy 曲线");  plt.legend();  plt.grid(True)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plt.tight_layout()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Consolas"/>
              </a:defRPr>
            </a:pPr>
            <a:r>
              <a:t>plt.savefig("training_curves.png", dpi=150)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双图布局: Loss (左) + Accuracy (右)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蓝色: 训练集 / 红色: 测试集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保存为 PNG 用于报告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准确率越高、Loss 越低说明模型越好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10. 预测结果展示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●  绿色 = 正确预测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●  红色 = 错误预测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显示置信度分数  |  测试集准确率: 94.66%</a:t>
            </a:r>
          </a:p>
        </p:txBody>
      </p:sp>
      <p:pic>
        <p:nvPicPr>
          <p:cNvPr id="6" name="Picture 5" descr="prediction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686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微软雅黑"/>
              </a:defRPr>
            </a:pPr>
            <a:r>
              <a:t>10. 预测实现代码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6858000" cy="53035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64922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# 获取测试集 batch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data_iter = iter(test_loader)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images, labels = next(data_iter)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# 推理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model.eval()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with torch.no_grad():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outputs = model(images)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probs = torch.softmax(outputs, dim=1)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_, predicted = torch.max(outputs, 1)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# 反标准化（将归一化的图像转回可视格式）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def denormalize(tensor):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mean = torch.tensor([0.485, 0.456, 0.406]).view(3,1,1)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std = torch.tensor([0.229, 0.224, 0.225]).view(3,1,1)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return torch.clamp(tensor * std + mean, 0, 1)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# matplotlib 展示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plt.figure(figsize=(14, 6))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for i in range(8):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plt.subplot(2, 4, i+1)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img = denormalize(images[i].cpu())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plt.imshow(img.permute(1,2,0))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color = "green" if pred==label else "red"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Consolas"/>
              </a:defRPr>
            </a:pPr>
            <a:r>
              <a:t>    plt.title(f"True: {label} / Pred: {pred}")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softmax 输出概率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denormalize 还原可视化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绿色正确 / 红色错误</a:t>
            </a:r>
          </a:p>
          <a:p>
            <a:pPr>
              <a:spcAft>
                <a:spcPts val="1000"/>
              </a:spcAft>
              <a:defRPr sz="1600">
                <a:solidFill>
                  <a:srgbClr val="1A1A2E"/>
                </a:solidFill>
                <a:latin typeface="微软雅黑"/>
              </a:defRPr>
            </a:pPr>
            <a:r>
              <a:t>●  子图排列 2行×4列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11.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/>
              </a:defRPr>
            </a:pPr>
            <a:r>
              <a:t>实验成果：</a:t>
            </a:r>
          </a:p>
          <a:p>
            <a:pPr>
              <a:spcBef>
                <a:spcPts val="600"/>
              </a:spcBef>
              <a:defRPr sz="1400"/>
            </a:pPr>
            <a:r>
              <a:t>●  支持 GPU（CUDA）加速训练，Batch Size 提升至 128，训练效率大幅提高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基于 ResNet18 迁移学习实现了深度伪造图像分类系统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通过 K-means 聚类解决了无标注数据的标签生成问题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在 25,000 张图像上完成了完整的训练与评估流程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t-SNE 可视化证实两个类别在特征空间有较好的可分性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/>
              </a:defRPr>
            </a:pPr>
            <a:r>
              <a:t>改进方向：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使用真实标注数据替代伪标签，可获取准确率确切的评估指标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尝试更深的网络（ResNet50, EfficientNet）或视觉 Transformer（ViT）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增加数据增强策略（随机旋转、裁剪、CutMix 等）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微软雅黑"/>
              </a:defRPr>
            </a:pPr>
            <a:r>
              <a:t>●  结合伪标签与真实标签的混合训练策略，进一步提升分类准确率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8457</Words>
  <Application>WPS 演示</Application>
  <PresentationFormat>On-screen Show (4:3)</PresentationFormat>
  <Paragraphs>487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宋体</vt:lpstr>
      <vt:lpstr>Wingdings</vt:lpstr>
      <vt:lpstr>Arial</vt:lpstr>
      <vt:lpstr>微软雅黑</vt:lpstr>
      <vt:lpstr>汉仪旗黑</vt:lpstr>
      <vt:lpstr>Consolas</vt:lpstr>
      <vt:lpstr>Calibri</vt:lpstr>
      <vt:lpstr>Helvetica Neue</vt:lpstr>
      <vt:lpstr>宋体</vt:lpstr>
      <vt:lpstr>汉仪书宋二KW</vt:lpstr>
      <vt:lpstr>微软雅黑</vt:lpstr>
      <vt:lpstr>Arial Unicode MS</vt:lpstr>
      <vt:lpstr>Thonburi</vt:lpstr>
      <vt:lpstr>Consolas</vt:lpstr>
      <vt:lpstr>微软雅黑</vt:lpstr>
      <vt:lpstr>苹方-简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吴佳鑫</cp:lastModifiedBy>
  <cp:revision>3</cp:revision>
  <dcterms:created xsi:type="dcterms:W3CDTF">2026-05-15T10:52:22Z</dcterms:created>
  <dcterms:modified xsi:type="dcterms:W3CDTF">2026-05-15T10:52:22Z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C8F5F414709B92142AE4066AE7E56B25_42</vt:lpwstr>
  </property>
  <property fmtid="{D5CDD505-2E9C-101B-9397-08002B2CF9AE}" pid="3" name="KSOProductBuildVer">
    <vt:lpwstr>2052-12.1.25867.25867</vt:lpwstr>
  </property>
</Properties>
</file>