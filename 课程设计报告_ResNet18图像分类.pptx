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5" Type="http://schemas.openxmlformats.org/officeDocument/2006/relationships/tableStyles" Target="tableStyles.xml"/><Relationship Id="rId24" Type="http://schemas.openxmlformats.org/officeDocument/2006/relationships/viewProps" Target="viewProps.xml"/><Relationship Id="rId23" Type="http://schemas.openxmlformats.org/officeDocument/2006/relationships/presProps" Target="presProps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12191695" cy="54864"/>
          </a:xfrm>
          <a:prstGeom prst="rect">
            <a:avLst/>
          </a:prstGeom>
          <a:solidFill>
            <a:srgbClr val="00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微软雅黑"/>
              </a:defRPr>
            </a:pPr>
            <a:r>
              <a:t>基于 ResNet18 迁移学习的图像分类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B4D8"/>
                </a:solidFill>
                <a:latin typeface="微软雅黑"/>
              </a:defRPr>
            </a:pPr>
            <a:r>
              <a:t>——深度伪造检测在 OpenMMSec 数据集上的应用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课程设计报告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05840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66666"/>
                </a:solidFill>
                <a:latin typeface="微软雅黑"/>
              </a:defRPr>
            </a:pPr>
            <a:r>
              <a:t>PyTorch · ResNet18 · Transfer Learning · 202</a:t>
            </a:r>
            <a:r>
              <a:rPr lang="en-US"/>
              <a:t>6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微软雅黑"/>
              </a:defRPr>
            </a:pPr>
            <a:r>
              <a:t>目 录 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9144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A1A2E"/>
                </a:solidFill>
                <a:latin typeface="微软雅黑"/>
              </a:defRPr>
            </a:pPr>
            <a:r>
              <a:t>●  项目背景与意义</a:t>
            </a:r>
          </a:p>
          <a:p>
            <a:pPr>
              <a:spcAft>
                <a:spcPts val="800"/>
              </a:spcAft>
              <a:defRPr sz="2000">
                <a:solidFill>
                  <a:srgbClr val="1A1A2E"/>
                </a:solidFill>
                <a:latin typeface="微软雅黑"/>
              </a:defRPr>
            </a:pPr>
            <a:r>
              <a:t>●  数据集介绍 —— OpenMMSec</a:t>
            </a:r>
          </a:p>
          <a:p>
            <a:pPr>
              <a:spcAft>
                <a:spcPts val="800"/>
              </a:spcAft>
              <a:defRPr sz="2000">
                <a:solidFill>
                  <a:srgbClr val="1A1A2E"/>
                </a:solidFill>
                <a:latin typeface="微软雅黑"/>
              </a:defRPr>
            </a:pPr>
            <a:r>
              <a:t>●  技术路线概述</a:t>
            </a:r>
          </a:p>
          <a:p>
            <a:pPr>
              <a:spcAft>
                <a:spcPts val="800"/>
              </a:spcAft>
              <a:defRPr sz="2000">
                <a:solidFill>
                  <a:srgbClr val="1A1A2E"/>
                </a:solidFill>
                <a:latin typeface="微软雅黑"/>
              </a:defRPr>
            </a:pPr>
            <a:r>
              <a:t>●  数据预处理与加载</a:t>
            </a:r>
          </a:p>
          <a:p>
            <a:pPr>
              <a:spcAft>
                <a:spcPts val="800"/>
              </a:spcAft>
              <a:defRPr sz="2000">
                <a:solidFill>
                  <a:srgbClr val="1A1A2E"/>
                </a:solidFill>
                <a:latin typeface="微软雅黑"/>
              </a:defRPr>
            </a:pPr>
            <a:r>
              <a:t>●  特征提取与伪标签生成（K-means聚类）</a:t>
            </a:r>
          </a:p>
          <a:p>
            <a:pPr>
              <a:spcAft>
                <a:spcPts val="800"/>
              </a:spcAft>
              <a:defRPr sz="2000">
                <a:solidFill>
                  <a:srgbClr val="1A1A2E"/>
                </a:solidFill>
                <a:latin typeface="微软雅黑"/>
              </a:defRPr>
            </a:pPr>
            <a:r>
              <a:t>●  模型结构 —— ResNet18</a:t>
            </a:r>
          </a:p>
          <a:p>
            <a:pPr>
              <a:spcAft>
                <a:spcPts val="800"/>
              </a:spcAft>
              <a:defRPr sz="2000">
                <a:solidFill>
                  <a:srgbClr val="1A1A2E"/>
                </a:solidFill>
                <a:latin typeface="微软雅黑"/>
              </a:defRPr>
            </a:pPr>
            <a:r>
              <a:t>●  训练过程与超参数</a:t>
            </a:r>
          </a:p>
          <a:p>
            <a:pPr>
              <a:spcAft>
                <a:spcPts val="800"/>
              </a:spcAft>
              <a:defRPr sz="2000">
                <a:solidFill>
                  <a:srgbClr val="1A1A2E"/>
                </a:solidFill>
                <a:latin typeface="微软雅黑"/>
              </a:defRPr>
            </a:pPr>
            <a:r>
              <a:t>●  实验结果与分析（Loss曲线 + Accuracy曲线）</a:t>
            </a:r>
          </a:p>
          <a:p>
            <a:pPr>
              <a:spcAft>
                <a:spcPts val="800"/>
              </a:spcAft>
              <a:defRPr sz="2000">
                <a:solidFill>
                  <a:srgbClr val="1A1A2E"/>
                </a:solidFill>
                <a:latin typeface="微软雅黑"/>
              </a:defRPr>
            </a:pPr>
            <a:r>
              <a:t>●  预测结果展示</a:t>
            </a:r>
          </a:p>
          <a:p>
            <a:pPr>
              <a:spcAft>
                <a:spcPts val="800"/>
              </a:spcAft>
              <a:defRPr sz="2000">
                <a:solidFill>
                  <a:srgbClr val="1A1A2E"/>
                </a:solidFill>
                <a:latin typeface="微软雅黑"/>
              </a:defRPr>
            </a:pPr>
            <a:r>
              <a:t>●  总结与展望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微软雅黑"/>
              </a:defRPr>
            </a:pPr>
            <a:r>
              <a:t>1. 项目背景与意义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9601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1A2E"/>
                </a:solidFill>
                <a:latin typeface="微软雅黑"/>
              </a:defRPr>
            </a:pPr>
            <a:r>
              <a:t>●  随着 DeepSeek、GPT、LLaMA 等大模型的爆发式应用，AI 已深度融入金融、医疗、智能终端语音交互等核心领域</a:t>
            </a:r>
          </a:p>
          <a:p>
            <a:pPr>
              <a:spcAft>
                <a:spcPts val="1200"/>
              </a:spcAft>
              <a:defRPr sz="1800">
                <a:solidFill>
                  <a:srgbClr val="1A1A2E"/>
                </a:solidFill>
                <a:latin typeface="微软雅黑"/>
              </a:defRPr>
            </a:pPr>
            <a:r>
              <a:t>●  与此同时，深度伪造身份攻击（Deepfake）也随之成为全球性安全威胁</a:t>
            </a:r>
          </a:p>
          <a:p>
            <a:pPr>
              <a:spcAft>
                <a:spcPts val="1200"/>
              </a:spcAft>
              <a:defRPr sz="1800">
                <a:solidFill>
                  <a:srgbClr val="1A1A2E"/>
                </a:solidFill>
                <a:latin typeface="微软雅黑"/>
              </a:defRPr>
            </a:pPr>
            <a:r>
              <a:t>●  2025 全球 AI 攻防挑战赛由中国图象图形学学会、蚂蚁集团、云安全联盟 CSA 大中华区主办</a:t>
            </a:r>
          </a:p>
          <a:p>
            <a:pPr>
              <a:spcAft>
                <a:spcPts val="1200"/>
              </a:spcAft>
              <a:defRPr sz="1800">
                <a:solidFill>
                  <a:srgbClr val="1A1A2E"/>
                </a:solidFill>
                <a:latin typeface="微软雅黑"/>
              </a:defRPr>
            </a:pPr>
            <a:r>
              <a:t>●  聚焦金融、医疗、生活场景下的数字身份 AI 大模型智能交互认证安全</a:t>
            </a:r>
          </a:p>
          <a:p>
            <a:pPr>
              <a:spcAft>
                <a:spcPts val="1200"/>
              </a:spcAft>
              <a:defRPr sz="1800">
                <a:solidFill>
                  <a:srgbClr val="1A1A2E"/>
                </a:solidFill>
                <a:latin typeface="微软雅黑"/>
              </a:defRPr>
            </a:pPr>
            <a:r>
              <a:t>●  蚂蚁集团开源 OpenMMSec 多模态 AI 安全基准数据集，涵盖图像、视频、音频三大模态</a:t>
            </a:r>
          </a:p>
          <a:p>
            <a:pPr>
              <a:spcAft>
                <a:spcPts val="1200"/>
              </a:spcAft>
              <a:defRPr sz="1800">
                <a:solidFill>
                  <a:srgbClr val="1A1A2E"/>
                </a:solidFill>
                <a:latin typeface="微软雅黑"/>
              </a:defRPr>
            </a:pPr>
            <a:r>
              <a:t>●  本实验基于 OpenMMSec 图像子集，利用 ResNet18 迁移学习实现深度伪造检测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微软雅黑"/>
              </a:defRPr>
            </a:pPr>
            <a:r>
              <a:t>2. OpenMMSec 数据集介绍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9601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1A2E"/>
                </a:solidFill>
                <a:latin typeface="微软雅黑"/>
              </a:defRPr>
            </a:pPr>
            <a:r>
              <a:t>●  OpenMMSec：开放式多模态 AI 安全基准数据集</a:t>
            </a:r>
          </a:p>
          <a:p>
            <a:pPr>
              <a:spcAft>
                <a:spcPts val="1200"/>
              </a:spcAft>
              <a:defRPr sz="1800">
                <a:solidFill>
                  <a:srgbClr val="1A1A2E"/>
                </a:solidFill>
                <a:latin typeface="微软雅黑"/>
              </a:defRPr>
            </a:pPr>
            <a:r>
              <a:t>●  覆盖图像、视频、音频三大场景，六个子赛题</a:t>
            </a:r>
          </a:p>
          <a:p>
            <a:pPr>
              <a:spcAft>
                <a:spcPts val="1200"/>
              </a:spcAft>
              <a:defRPr sz="1800">
                <a:solidFill>
                  <a:srgbClr val="1A1A2E"/>
                </a:solidFill>
                <a:latin typeface="微软雅黑"/>
              </a:defRPr>
            </a:pPr>
            <a:r>
              <a:t>●  图像子集包含大量真实人脸与 AI 生成人脸的对抗样本</a:t>
            </a:r>
          </a:p>
          <a:p>
            <a:pPr>
              <a:spcAft>
                <a:spcPts val="1200"/>
              </a:spcAft>
              <a:defRPr sz="1800">
                <a:solidFill>
                  <a:srgbClr val="1A1A2E"/>
                </a:solidFill>
                <a:latin typeface="微软雅黑"/>
              </a:defRPr>
            </a:pPr>
            <a:r>
              <a:t>●  图像规格：512×512 RGB JPEG，sRGB 色彩空间</a:t>
            </a:r>
          </a:p>
          <a:p>
            <a:pPr>
              <a:spcAft>
                <a:spcPts val="1200"/>
              </a:spcAft>
              <a:defRPr sz="1800">
                <a:solidFill>
                  <a:srgbClr val="1A1A2E"/>
                </a:solidFill>
                <a:latin typeface="微软雅黑"/>
              </a:defRPr>
            </a:pPr>
            <a:r>
              <a:t>●  本实验实验数据：25,000 张无标注图像</a:t>
            </a:r>
          </a:p>
          <a:p>
            <a:pPr>
              <a:spcAft>
                <a:spcPts val="1200"/>
              </a:spcAft>
              <a:defRPr sz="1800">
                <a:solidFill>
                  <a:srgbClr val="1A1A2E"/>
                </a:solidFill>
                <a:latin typeface="微软雅黑"/>
              </a:defRPr>
            </a:pPr>
            <a:r>
              <a:t>●  采用无监督方式（K-means 聚类）生成伪标签进行训练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0292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微软雅黑"/>
              </a:defRPr>
            </a:pPr>
            <a:r>
              <a:t>引用：OpenMMSec 数据集, 2025 全球 AI 攻防挑战赛, https://openmmlab.com/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微软雅黑"/>
              </a:defRPr>
            </a:pPr>
            <a:r>
              <a:t>3. 技术路线概述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微软雅黑"/>
              </a:defRPr>
            </a:pPr>
            <a:r>
              <a:t>整体流程：</a:t>
            </a:r>
          </a:p>
        </p:txBody>
      </p:sp>
      <p:sp>
        <p:nvSpPr>
          <p:cNvPr id="6" name="Oval 5"/>
          <p:cNvSpPr/>
          <p:nvPr/>
        </p:nvSpPr>
        <p:spPr>
          <a:xfrm>
            <a:off x="1097280" y="2240279"/>
            <a:ext cx="365760" cy="365760"/>
          </a:xfrm>
          <a:prstGeom prst="ellipse">
            <a:avLst/>
          </a:prstGeom>
          <a:solidFill>
            <a:srgbClr val="00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194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2E"/>
                </a:solidFill>
                <a:latin typeface="微软雅黑"/>
              </a:defRPr>
            </a:pPr>
            <a:r>
              <a:t>图像读取与预处理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5146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微软雅黑"/>
              </a:defRPr>
            </a:pPr>
            <a:r>
              <a:t>将所有图片缩放至 224×224，归一化处理</a:t>
            </a:r>
          </a:p>
        </p:txBody>
      </p:sp>
      <p:sp>
        <p:nvSpPr>
          <p:cNvPr id="9" name="Oval 8"/>
          <p:cNvSpPr/>
          <p:nvPr/>
        </p:nvSpPr>
        <p:spPr>
          <a:xfrm>
            <a:off x="1097280" y="3108959"/>
            <a:ext cx="365760" cy="365760"/>
          </a:xfrm>
          <a:prstGeom prst="ellipse">
            <a:avLst/>
          </a:prstGeom>
          <a:solidFill>
            <a:srgbClr val="00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3063239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2E"/>
                </a:solidFill>
                <a:latin typeface="微软雅黑"/>
              </a:defRPr>
            </a:pPr>
            <a:r>
              <a:t>预训练特征提取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3383279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微软雅黑"/>
              </a:defRPr>
            </a:pPr>
            <a:r>
              <a:t>加载 ResNet18（ImageNet 预训练），去除分类头，输出 512 维特征</a:t>
            </a:r>
          </a:p>
        </p:txBody>
      </p:sp>
      <p:sp>
        <p:nvSpPr>
          <p:cNvPr id="12" name="Oval 11"/>
          <p:cNvSpPr/>
          <p:nvPr/>
        </p:nvSpPr>
        <p:spPr>
          <a:xfrm>
            <a:off x="1097280" y="3977639"/>
            <a:ext cx="365760" cy="365760"/>
          </a:xfrm>
          <a:prstGeom prst="ellipse">
            <a:avLst/>
          </a:prstGeom>
          <a:solidFill>
            <a:srgbClr val="00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3931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2E"/>
                </a:solidFill>
                <a:latin typeface="微软雅黑"/>
              </a:defRPr>
            </a:pPr>
            <a:r>
              <a:t>K-means 聚类生成伪标签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4251959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微软雅黑"/>
              </a:defRPr>
            </a:pPr>
            <a:r>
              <a:t>利用特征向量聚类为 2 类（真实/伪造），生成训练标签</a:t>
            </a:r>
          </a:p>
        </p:txBody>
      </p:sp>
      <p:sp>
        <p:nvSpPr>
          <p:cNvPr id="15" name="Oval 14"/>
          <p:cNvSpPr/>
          <p:nvPr/>
        </p:nvSpPr>
        <p:spPr>
          <a:xfrm>
            <a:off x="1097280" y="4846320"/>
            <a:ext cx="365760" cy="365760"/>
          </a:xfrm>
          <a:prstGeom prst="ellipse">
            <a:avLst/>
          </a:prstGeom>
          <a:solidFill>
            <a:srgbClr val="00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4800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2E"/>
                </a:solidFill>
                <a:latin typeface="微软雅黑"/>
              </a:defRPr>
            </a:pPr>
            <a:r>
              <a:t>迁移学习训练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5120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微软雅黑"/>
              </a:defRPr>
            </a:pPr>
            <a:r>
              <a:t>替换 ResNet18 最后一层为 2 分类，在伪标签上微调训练</a:t>
            </a:r>
          </a:p>
        </p:txBody>
      </p:sp>
      <p:sp>
        <p:nvSpPr>
          <p:cNvPr id="18" name="Oval 17"/>
          <p:cNvSpPr/>
          <p:nvPr/>
        </p:nvSpPr>
        <p:spPr>
          <a:xfrm>
            <a:off x="1097280" y="5714999"/>
            <a:ext cx="365760" cy="365760"/>
          </a:xfrm>
          <a:prstGeom prst="ellipse">
            <a:avLst/>
          </a:prstGeom>
          <a:solidFill>
            <a:srgbClr val="00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5669279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2E"/>
                </a:solidFill>
                <a:latin typeface="微软雅黑"/>
              </a:defRPr>
            </a:pPr>
            <a:r>
              <a:t>评估与可视化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5989319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微软雅黑"/>
              </a:defRPr>
            </a:pPr>
            <a:r>
              <a:t>绘制 Loss/Accuracy 曲线，展示预测示例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微软雅黑"/>
              </a:defRPr>
            </a:pPr>
            <a:r>
              <a:t>4. 数据预处理——数据集读取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6EFF"/>
                </a:solidFill>
                <a:latin typeface="微软雅黑"/>
              </a:defRPr>
            </a:pPr>
            <a:r>
              <a:t>自定义 Dataset（平铺文件结构，无需子目录）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943600" cy="411480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557784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  <a:r>
              <a:t>class ImageFolderFlat(Dataset):</a:t>
            </a:r>
          </a:p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  <a:r>
              <a:t>    """读取单目录下所有图片，不使用子目录类结构"""</a:t>
            </a:r>
          </a:p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  <a:r>
              <a:t>    def __init__(self, root, transform=None, max_images=None):</a:t>
            </a:r>
          </a:p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  <a:r>
              <a:t>        all_files = sorted([</a:t>
            </a:r>
          </a:p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  <a:r>
              <a:t>            os.path.join(root, f) for f in os.listdir(root)</a:t>
            </a:r>
          </a:p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  <a:r>
              <a:t>            if f.lower().endswith(('.jpg', '.jpeg', '.png'))</a:t>
            </a:r>
          </a:p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  <a:r>
              <a:t>        ])</a:t>
            </a:r>
          </a:p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  <a:r>
              <a:t>        if max_images and max_images &lt; len(all_files):</a:t>
            </a:r>
          </a:p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  <a:r>
              <a:t>            # 均匀采样</a:t>
            </a:r>
          </a:p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  <a:r>
              <a:t>            indices = np.linspace(0, len(all_files)-1, max_images, dtype=int)</a:t>
            </a:r>
          </a:p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  <a:r>
              <a:t>            self.samples = [all_files[i] for i in indices]</a:t>
            </a:r>
          </a:p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  <a:r>
              <a:t>        else:</a:t>
            </a:r>
          </a:p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  <a:r>
              <a:t>            self.samples = all_files</a:t>
            </a:r>
          </a:p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  <a:r>
              <a:t>    def __getitem__(self, idx):</a:t>
            </a:r>
          </a:p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  <a:r>
              <a:t>        path = self.samples[idx]</a:t>
            </a:r>
          </a:p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  <a:r>
              <a:t>        image = Image.open(path).convert('RGB')</a:t>
            </a:r>
          </a:p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  <a:r>
              <a:t>        if self.transform:</a:t>
            </a:r>
          </a:p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  <a:r>
              <a:t>            image = self.transform(image)</a:t>
            </a:r>
          </a:p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  <a:r>
              <a:t>        return image, idx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82880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1A1A2E"/>
                </a:solidFill>
                <a:latin typeface="微软雅黑"/>
              </a:defRPr>
            </a:pPr>
            <a:r>
              <a:t>●  25,000 张图片平铺在 0/ 目录下</a:t>
            </a:r>
          </a:p>
          <a:p>
            <a:pPr>
              <a:spcAft>
                <a:spcPts val="1200"/>
              </a:spcAft>
              <a:defRPr sz="1600">
                <a:solidFill>
                  <a:srgbClr val="1A1A2E"/>
                </a:solidFill>
                <a:latin typeface="微软雅黑"/>
              </a:defRPr>
            </a:pPr>
            <a:r>
              <a:t>●  支持 max_images 参数控制采样数（测试用）</a:t>
            </a:r>
          </a:p>
          <a:p>
            <a:pPr>
              <a:spcAft>
                <a:spcPts val="1200"/>
              </a:spcAft>
              <a:defRPr sz="1600">
                <a:solidFill>
                  <a:srgbClr val="1A1A2E"/>
                </a:solidFill>
                <a:latin typeface="微软雅黑"/>
              </a:defRPr>
            </a:pPr>
            <a:r>
              <a:t>●  使用 np.linspace 等距抽保持分布覆盖</a:t>
            </a:r>
          </a:p>
          <a:p>
            <a:pPr>
              <a:spcAft>
                <a:spcPts val="1200"/>
              </a:spcAft>
              <a:defRPr sz="1600">
                <a:solidFill>
                  <a:srgbClr val="1A1A2E"/>
                </a:solidFill>
                <a:latin typeface="微软雅黑"/>
              </a:defRPr>
            </a:pPr>
            <a:r>
              <a:t>●  返回 (image, idx) 用于后续特征映射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微软雅黑"/>
              </a:defRPr>
            </a:pPr>
            <a:r>
              <a:t>4. 数据预处理——变换与增强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6EFF"/>
                </a:solidFill>
                <a:latin typeface="微软雅黑"/>
              </a:defRPr>
            </a:pPr>
            <a:r>
              <a:t>训练集数据增强 vs 测试集数据变换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微软雅黑"/>
              </a:defRPr>
            </a:pPr>
            <a:r>
              <a:t>训练集数据增强：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286000"/>
            <a:ext cx="10058400" cy="201168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969264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# 训练集：缩放 + 随机水平翻转 + 颜色抖动 + 归一化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train_transform = transforms.Compose([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    transforms.Resize((224, 224)),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    transforms.RandomHorizontalFlip(),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    transforms.ColorJitter(0.1, 0.1, 0.1, 0.05),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    transforms.ToTensor(),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    transforms.Normalize(mean=[0.485, 0.456, 0.406],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                         std=[0.229, 0.224, 0.225])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])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2062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微软雅黑"/>
              </a:defRPr>
            </a:pPr>
            <a:r>
              <a:t>测试集数据变换：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72000"/>
            <a:ext cx="10058400" cy="164592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663440"/>
            <a:ext cx="969264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# 测试集：仅缩放与归一化，不做数据增强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test_transform = transforms.Compose([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    transforms.Resize((224, 224)),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    transforms.ToTensor(),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    transforms.Normalize(mean=[0.485, 0.456, 0.406],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                         std=[0.229, 0.224, 0.225])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])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微软雅黑"/>
              </a:defRPr>
            </a:pPr>
            <a:r>
              <a:t>5. 特征提取——预训练 ResNet18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6EFF"/>
                </a:solidFill>
                <a:latin typeface="微软雅黑"/>
              </a:defRPr>
            </a:pPr>
            <a:r>
              <a:t>加载 ImageNet 预训练权重，移除分类头，提取 512 维特征向量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6400800" cy="411480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603504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  <a:r>
              <a:t># 加载预训练 ResNet18</a:t>
            </a:r>
          </a:p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  <a:r>
              <a:t>feature_model = models.resnet18(</a:t>
            </a:r>
          </a:p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  <a:r>
              <a:t>    weights=models.ResNet18_Weights.IMAGENET1K_V1</a:t>
            </a:r>
          </a:p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  <a:r>
              <a:t>)</a:t>
            </a:r>
          </a:p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  <a:r>
              <a:t># 移除最后一层分类头，保留卷积特征提取部分</a:t>
            </a:r>
          </a:p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  <a:r>
              <a:t>feature_model = nn.Sequential(*list(feature_model.children())[:-1])</a:t>
            </a:r>
          </a:p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  <a:r>
              <a:t>feature_model = feature_model.to(DEVICE)</a:t>
            </a:r>
          </a:p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  <a:r>
              <a:t>feature_model.eval()</a:t>
            </a:r>
          </a:p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  <a:r>
              <a:t># 批量提取特征</a:t>
            </a:r>
          </a:p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  <a:r>
              <a:t>features = []</a:t>
            </a:r>
          </a:p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  <a:r>
              <a:t>with torch.no_grad():</a:t>
            </a:r>
          </a:p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  <a:r>
              <a:t>    for images, _ in tqdm(loader):</a:t>
            </a:r>
          </a:p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  <a:r>
              <a:t>        feats = feature_model(images.to(DEVICE))  # (B,512,1,1)</a:t>
            </a:r>
          </a:p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  <a:r>
              <a:t>        feats = feats.view(feats.size(0), -1)      # (B,512)</a:t>
            </a:r>
          </a:p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  <a:r>
              <a:t>        features.append(feats.cpu().numpy())</a:t>
            </a:r>
          </a:p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  <a:r>
              <a:t>features = np.concatenate(features, axis=0)</a:t>
            </a:r>
          </a:p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  <a:r>
              <a:t># 结果: (N, 512) 特征矩阵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182880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  <a:latin typeface="微软雅黑"/>
              </a:defRPr>
            </a:pPr>
            <a:r>
              <a:t>●  输入: 224×224 RGB 图像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  <a:latin typeface="微软雅黑"/>
              </a:defRPr>
            </a:pPr>
            <a:r>
              <a:t>●  输出: 512 维特征向量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  <a:latin typeface="微软雅黑"/>
              </a:defRPr>
            </a:pPr>
            <a:r>
              <a:t>●  使用 torch.no_grad() 不计算梯度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  <a:latin typeface="微软雅黑"/>
              </a:defRPr>
            </a:pPr>
            <a:r>
              <a:t>●  最终特征矩阵: N×512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  <a:latin typeface="微软雅黑"/>
              </a:defRPr>
            </a:pPr>
            <a:r>
              <a:t>●  特征用于后续聚类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微软雅黑"/>
              </a:defRPr>
            </a:pPr>
            <a:r>
              <a:t>6. K-means 聚类与 t-SNE 可视化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6EFF"/>
                </a:solidFill>
                <a:latin typeface="微软雅黑"/>
              </a:defRPr>
            </a:pPr>
            <a:r>
              <a:t>K-means 聚类生成伪标签，t-SNE 降维可视化特征分布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486400" cy="182880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512064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kmeans = KMeans(n_clusters=2, random_state=42, n_init=10)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pseudo_labels = kmeans.fit_predict(features)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tsne = TSNE(n_components=2, perplexity=30)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feats_2d = tsne.fit_transform(features_sample)</a:t>
            </a:r>
          </a:p>
        </p:txBody>
      </p:sp>
      <p:pic>
        <p:nvPicPr>
          <p:cNvPr id="8" name="Picture 7" descr="cluster_visualizatio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645920"/>
            <a:ext cx="4754880" cy="3566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3931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  <a:latin typeface="微软雅黑"/>
              </a:defRPr>
            </a:pPr>
            <a:r>
              <a:t>●  K=2 二分类（真实/伪造）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  <a:latin typeface="微软雅黑"/>
              </a:defRPr>
            </a:pPr>
            <a:r>
              <a:t>●  K-means 在 512 维特征空间聚类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  <a:latin typeface="微软雅黑"/>
              </a:defRPr>
            </a:pPr>
            <a:r>
              <a:t>●  t-SNE 降维到 2D 展示分布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  <a:latin typeface="微软雅黑"/>
              </a:defRPr>
            </a:pPr>
            <a:r>
              <a:t>●  两个聚类在特征空间中分离清晰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微软雅黑"/>
              </a:defRPr>
            </a:pPr>
            <a:r>
              <a:t>6. 伪标签生成与数据集划分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6EFF"/>
                </a:solidFill>
                <a:latin typeface="微软雅黑"/>
              </a:defRPr>
            </a:pPr>
            <a:r>
              <a:t>基于伪标签构建训练/测试集（分层抽样）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6400800" cy="411480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603504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  <a:r>
              <a:t>class LabeledDataset(Dataset):</a:t>
            </a:r>
          </a:p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  <a:r>
              <a:t>    def __init__(self, image_paths, labels, transform=None):</a:t>
            </a:r>
          </a:p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  <a:r>
              <a:t>        self.labels = labels.astype(np.int64)</a:t>
            </a:r>
          </a:p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  <a:r>
              <a:t>        ...</a:t>
            </a:r>
          </a:p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  <a:r>
              <a:t>    def __getitem__(self, idx):</a:t>
            </a:r>
          </a:p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  <a:r>
              <a:t>        img = Image.open(self.image_paths[idx]).convert('RGB')</a:t>
            </a:r>
          </a:p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  <a:r>
              <a:t>        if self.transform: img = self.transform(img)</a:t>
            </a:r>
          </a:p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  <a:r>
              <a:t>        return img, torch.tensor(self.labels[idx], dtype=torch.long)</a:t>
            </a:r>
          </a:p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  <a:r>
              <a:t>from sklearn.model_selection import train_test_split</a:t>
            </a:r>
          </a:p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  <a:r>
              <a:t># 分层抽样，保持训练/测试集类别分布一致</a:t>
            </a:r>
          </a:p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  <a:r>
              <a:t>train_paths, test_paths, train_labels, test_labels = train_test_split(</a:t>
            </a:r>
          </a:p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  <a:r>
              <a:t>    paths, pseudo_labels, test_size=0.2,</a:t>
            </a:r>
          </a:p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  <a:r>
              <a:t>    random_state=42, stratify=pseudo_labels</a:t>
            </a:r>
          </a:p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  <a: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182880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  <a:latin typeface="微软雅黑"/>
              </a:defRPr>
            </a:pPr>
            <a:r>
              <a:t>●  使用 train_test_split 分层抽样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  <a:latin typeface="微软雅黑"/>
              </a:defRPr>
            </a:pPr>
            <a:r>
              <a:t>●  stratify=pseudo_labels 保持比例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  <a:latin typeface="微软雅黑"/>
              </a:defRPr>
            </a:pPr>
            <a:r>
              <a:t>●  80% 训练 / 20% 测试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  <a:latin typeface="微软雅黑"/>
              </a:defRPr>
            </a:pPr>
            <a:r>
              <a:t>●  标签转为 torch.long 兼容 CrossEntropyLoss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微软雅黑"/>
              </a:defRPr>
            </a:pPr>
            <a:r>
              <a:t>7. 模型架构——ResNet18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6EFF"/>
                </a:solidFill>
                <a:latin typeface="微软雅黑"/>
              </a:defRPr>
            </a:pPr>
            <a:r>
              <a:t>深度残差网络（Residual Network）结构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737360"/>
            <a:ext cx="5486400" cy="41148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  <a:latin typeface="微软雅黑"/>
              </a:defRPr>
            </a:pPr>
            <a: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7373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微软雅黑"/>
              </a:defRPr>
            </a:pPr>
            <a:r>
              <a:t>224×224×3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17373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微软雅黑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731520" y="2176272"/>
            <a:ext cx="54864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17627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微软雅黑"/>
              </a:defRPr>
            </a:pPr>
            <a:r>
              <a:t>Conv1 (7×7)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17627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微软雅黑"/>
              </a:defRPr>
            </a:pPr>
            <a:r>
              <a:t>112×112×64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17627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stride=2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615184"/>
            <a:ext cx="5486400" cy="41148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615184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微软雅黑"/>
              </a:defRPr>
            </a:pPr>
            <a:r>
              <a:t>BatchNorm + ReLU + MaxPool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615184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微软雅黑"/>
              </a:defRPr>
            </a:pPr>
            <a:r>
              <a:t>56×56×64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615184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stride=2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054096"/>
            <a:ext cx="54864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054096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微软雅黑"/>
              </a:defRPr>
            </a:pPr>
            <a:r>
              <a:t>Layer1 (2× BasicBlock)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054096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微软雅黑"/>
              </a:defRPr>
            </a:pPr>
            <a:r>
              <a:t>56×56×64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3054096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3×3 conv, 64 filters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3493008"/>
            <a:ext cx="5486400" cy="41148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349300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微软雅黑"/>
              </a:defRPr>
            </a:pPr>
            <a:r>
              <a:t>Layer2 (2× BasicBlock)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49300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微软雅黑"/>
              </a:defRPr>
            </a:pPr>
            <a:r>
              <a:t>28×28×128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349300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stride=2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3931920"/>
            <a:ext cx="54864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39319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微软雅黑"/>
              </a:defRPr>
            </a:pPr>
            <a:r>
              <a:t>Layer3 (2× BasicBlock)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39319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微软雅黑"/>
              </a:defRPr>
            </a:pPr>
            <a:r>
              <a:t>14×14×256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39319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stride=2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4370831"/>
            <a:ext cx="5486400" cy="41148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4370831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微软雅黑"/>
              </a:defRPr>
            </a:pPr>
            <a:r>
              <a:t>Layer4 (2× BasicBlock)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4370831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微软雅黑"/>
              </a:defRPr>
            </a:pPr>
            <a:r>
              <a:t>7×7×512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0" y="4370831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stride=2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" y="4809744"/>
            <a:ext cx="54864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4809744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微软雅黑"/>
              </a:defRPr>
            </a:pPr>
            <a:r>
              <a:t>Global Avg Pool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4809744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微软雅黑"/>
              </a:defRPr>
            </a:pPr>
            <a:r>
              <a:t>1×1×512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809744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---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1520" y="5248656"/>
            <a:ext cx="5486400" cy="41148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248656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微软雅黑"/>
              </a:defRPr>
            </a:pPr>
            <a:r>
              <a:t>Fully Connected (替换)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0" y="5248656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微软雅黑"/>
              </a:defRPr>
            </a:pPr>
            <a:r>
              <a:t>512 → 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0" y="5248656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原为 512→1000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31520" y="5687568"/>
            <a:ext cx="54864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568756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微软雅黑"/>
              </a:defRPr>
            </a:pPr>
            <a:r>
              <a:t>Softmax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0" y="568756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微软雅黑"/>
              </a:defRPr>
            </a:pPr>
            <a:r>
              <a:t>2-class prob.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0" y="568756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微软雅黑"/>
              </a:defRPr>
            </a:pPr>
            <a:r>
              <a:t>真实 / 伪造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0" y="173736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1A1A2E"/>
                </a:solidFill>
                <a:latin typeface="微软雅黑"/>
              </a:defRPr>
            </a:pPr>
            <a:r>
              <a:t>●  18 层深度（17 卷积层 + 1 全连接）</a:t>
            </a:r>
          </a:p>
          <a:p>
            <a:pPr>
              <a:spcAft>
                <a:spcPts val="1200"/>
              </a:spcAft>
              <a:defRPr sz="1700">
                <a:solidFill>
                  <a:srgbClr val="1A1A2E"/>
                </a:solidFill>
                <a:latin typeface="微软雅黑"/>
              </a:defRPr>
            </a:pPr>
            <a:r>
              <a:t>●  残差连接（Skip Connection）缓解梯度消失</a:t>
            </a:r>
          </a:p>
          <a:p>
            <a:pPr>
              <a:spcAft>
                <a:spcPts val="1200"/>
              </a:spcAft>
              <a:defRPr sz="1700">
                <a:solidFill>
                  <a:srgbClr val="1A1A2E"/>
                </a:solidFill>
                <a:latin typeface="微软雅黑"/>
              </a:defRPr>
            </a:pPr>
            <a:r>
              <a:t>●  替换最后一层: 1000→2 分类</a:t>
            </a:r>
          </a:p>
          <a:p>
            <a:pPr>
              <a:spcAft>
                <a:spcPts val="1200"/>
              </a:spcAft>
              <a:defRPr sz="1700">
                <a:solidFill>
                  <a:srgbClr val="1A1A2E"/>
                </a:solidFill>
                <a:latin typeface="微软雅黑"/>
              </a:defRPr>
            </a:pPr>
            <a:r>
              <a:t>●  使用迁移学习，加载 ImageNet 预训练权重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0" y="4114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6EFF"/>
                </a:solidFill>
                <a:latin typeface="微软雅黑"/>
              </a:defRPr>
            </a:pPr>
            <a:r>
              <a:t>模型修改代码：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858000" y="4572000"/>
            <a:ext cx="4754880" cy="164592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040880" y="4663440"/>
            <a:ext cx="438912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  <a:r>
              <a:t>model = models.resnet18(weights=IMAGENET1K_V1)</a:t>
            </a:r>
          </a:p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  <a:r>
              <a:t>in_features = model.fc.in_features</a:t>
            </a:r>
          </a:p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  <a:r>
              <a:t>model.fc = nn.Linear(in_features, 2)</a:t>
            </a:r>
          </a:p>
          <a:p>
            <a:pPr>
              <a:spcAft>
                <a:spcPts val="100"/>
              </a:spcAft>
              <a:defRPr sz="1100">
                <a:solidFill>
                  <a:srgbClr val="E0E0E0"/>
                </a:solidFill>
                <a:latin typeface="Consolas"/>
              </a:defRPr>
            </a:pPr>
            <a:r>
              <a:t>model = model.to(DEVICE)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微软雅黑"/>
              </a:defRPr>
            </a:pPr>
            <a:r>
              <a:t>7. 迁移学习原理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6EFF"/>
                </a:solidFill>
                <a:latin typeface="微软雅黑"/>
              </a:defRPr>
            </a:pPr>
            <a:r>
              <a:t>为什么使用迁移学习？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1A1A2E"/>
                </a:solidFill>
                <a:latin typeface="微软雅黑"/>
              </a:defRPr>
            </a:pPr>
            <a:r>
              <a:t>●  ImageNet 预训练模型已学到通用视觉特征（边缘、纹理、形状等底层特征）</a:t>
            </a:r>
          </a:p>
          <a:p>
            <a:pPr>
              <a:spcAft>
                <a:spcPts val="1200"/>
              </a:spcAft>
              <a:defRPr sz="1700">
                <a:solidFill>
                  <a:srgbClr val="1A1A2E"/>
                </a:solidFill>
                <a:latin typeface="微软雅黑"/>
              </a:defRPr>
            </a:pPr>
            <a:r>
              <a:t>●  通过微调，将这些特征迁移到目标任务（深度伪造检测）</a:t>
            </a:r>
          </a:p>
          <a:p>
            <a:pPr>
              <a:spcAft>
                <a:spcPts val="1200"/>
              </a:spcAft>
              <a:defRPr sz="1700">
                <a:solidFill>
                  <a:srgbClr val="1A1A2E"/>
                </a:solidFill>
                <a:latin typeface="微软雅黑"/>
              </a:defRPr>
            </a:pPr>
            <a:r>
              <a:t>●  相比随机初始化，迁移学习收敛更快、需要数据更少、泛化更好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6EFF"/>
                </a:solidFill>
                <a:latin typeface="微软雅黑"/>
              </a:defRPr>
            </a:pPr>
            <a:r>
              <a:t>迁移学习示意图：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828800"/>
            <a:ext cx="5029200" cy="6400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微软雅黑"/>
              </a:defRPr>
            </a:pPr>
            <a:r>
              <a:t>ImageNet 预训练权重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503920" y="2560320"/>
            <a:ext cx="548640" cy="365760"/>
          </a:xfrm>
          <a:prstGeom prst="downArrow">
            <a:avLst/>
          </a:prstGeom>
          <a:solidFill>
            <a:srgbClr val="00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3017520"/>
            <a:ext cx="5029200" cy="914400"/>
          </a:xfrm>
          <a:prstGeom prst="roundRect">
            <a:avLst/>
          </a:prstGeom>
          <a:solidFill>
            <a:srgbClr val="E8F0FE"/>
          </a:solidFill>
          <a:ln>
            <a:solidFill>
              <a:srgbClr val="006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306324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1A1A2E"/>
                </a:solidFill>
                <a:latin typeface="微软雅黑"/>
              </a:defRPr>
            </a:pPr>
            <a:r>
              <a:t>冻结底层卷积层</a:t>
            </a:r>
            <a:br/>
            <a:r>
              <a:t>保留通用视觉特征</a:t>
            </a:r>
            <a:br/>
            <a:r>
              <a:t>→ 只训练高层 + 新分类头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8503920" y="4023360"/>
            <a:ext cx="548640" cy="365760"/>
          </a:xfrm>
          <a:prstGeom prst="downArrow">
            <a:avLst/>
          </a:prstGeom>
          <a:solidFill>
            <a:srgbClr val="00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0" y="4480560"/>
            <a:ext cx="5029200" cy="640080"/>
          </a:xfrm>
          <a:prstGeom prst="roundRect">
            <a:avLst/>
          </a:prstGeom>
          <a:solidFill>
            <a:srgbClr val="E0FFE0"/>
          </a:solidFill>
          <a:ln>
            <a:solidFill>
              <a:srgbClr val="00A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45720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A1A2E"/>
                </a:solidFill>
                <a:latin typeface="微软雅黑"/>
              </a:defRPr>
            </a:pPr>
            <a:r>
              <a:t>🔹 新任务：深度伪造检测 (2分类)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微软雅黑"/>
              </a:defRPr>
            </a:pPr>
            <a:r>
              <a:t>8. 训练超参数与损失函数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371600"/>
            <a:ext cx="10058400" cy="475488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41732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微软雅黑"/>
              </a:defRPr>
            </a:pPr>
            <a:r>
              <a:t>超参数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14173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微软雅黑"/>
              </a:defRPr>
            </a:pPr>
            <a:r>
              <a:t>设定值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4173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微软雅黑"/>
              </a:defRPr>
            </a:pPr>
            <a:r>
              <a:t>说明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1874519"/>
            <a:ext cx="100584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920239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A1A2E"/>
                </a:solidFill>
                <a:latin typeface="微软雅黑"/>
              </a:defRPr>
            </a:pPr>
            <a:r>
              <a:t>BATCH_SIZE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920239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6EFF"/>
                </a:solidFill>
                <a:latin typeface="微软雅黑"/>
              </a:defRPr>
            </a:pPr>
            <a:r>
              <a:t>32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920239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微软雅黑"/>
              </a:defRPr>
            </a:pPr>
            <a:r>
              <a:t>每批 32 张图片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377440"/>
            <a:ext cx="10058400" cy="475488"/>
          </a:xfrm>
          <a:prstGeom prst="rect">
            <a:avLst/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242316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A1A2E"/>
                </a:solidFill>
                <a:latin typeface="微软雅黑"/>
              </a:defRPr>
            </a:pPr>
            <a:r>
              <a:t>EPOCHS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42316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6EFF"/>
                </a:solidFill>
                <a:latin typeface="微软雅黑"/>
              </a:defRPr>
            </a:pPr>
            <a: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24231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微软雅黑"/>
              </a:defRPr>
            </a:pPr>
            <a:r>
              <a:t>训练轮数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2880360"/>
            <a:ext cx="100584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29260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A1A2E"/>
                </a:solidFill>
                <a:latin typeface="微软雅黑"/>
              </a:defRPr>
            </a:pPr>
            <a:r>
              <a:t>Learning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29260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6EFF"/>
                </a:solidFill>
                <a:latin typeface="微软雅黑"/>
              </a:defRPr>
            </a:pPr>
            <a:r>
              <a:t>0.001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29260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微软雅黑"/>
              </a:defRPr>
            </a:pPr>
            <a:r>
              <a:t>Adam 优化器初始学习率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3383280"/>
            <a:ext cx="10058400" cy="475488"/>
          </a:xfrm>
          <a:prstGeom prst="rect">
            <a:avLst/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342900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A1A2E"/>
                </a:solidFill>
                <a:latin typeface="微软雅黑"/>
              </a:defRPr>
            </a:pPr>
            <a:r>
              <a:t>Optimizer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34290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6EFF"/>
                </a:solidFill>
                <a:latin typeface="微软雅黑"/>
              </a:defRPr>
            </a:pPr>
            <a:r>
              <a:t>Adam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342900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微软雅黑"/>
              </a:defRPr>
            </a:pPr>
            <a:r>
              <a:t>自适应矩估计优化器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3886200"/>
            <a:ext cx="100584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393192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A1A2E"/>
                </a:solidFill>
                <a:latin typeface="微软雅黑"/>
              </a:defRPr>
            </a:pPr>
            <a:r>
              <a:t>Loss Function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0" y="39319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6EFF"/>
                </a:solidFill>
                <a:latin typeface="微软雅黑"/>
              </a:defRPr>
            </a:pPr>
            <a:r>
              <a:t>CrossEntropyLoss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39319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微软雅黑"/>
              </a:defRPr>
            </a:pPr>
            <a:r>
              <a:t>多分类交叉熵损失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4389120"/>
            <a:ext cx="10058400" cy="475488"/>
          </a:xfrm>
          <a:prstGeom prst="rect">
            <a:avLst/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44348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A1A2E"/>
                </a:solidFill>
                <a:latin typeface="微软雅黑"/>
              </a:defRPr>
            </a:pPr>
            <a:r>
              <a:t>Image Size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0" y="443484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6EFF"/>
                </a:solidFill>
                <a:latin typeface="微软雅黑"/>
              </a:defRPr>
            </a:pPr>
            <a:r>
              <a:t>224×224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443484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微软雅黑"/>
              </a:defRPr>
            </a:pPr>
            <a:r>
              <a:t>ResNet 标准输入尺寸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4400" y="4892040"/>
            <a:ext cx="100584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7280" y="493776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A1A2E"/>
                </a:solidFill>
                <a:latin typeface="微软雅黑"/>
              </a:defRPr>
            </a:pPr>
            <a:r>
              <a:t>Train / Test Split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0" y="493776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6EFF"/>
                </a:solidFill>
                <a:latin typeface="微软雅黑"/>
              </a:defRPr>
            </a:pPr>
            <a:r>
              <a:t>80% / 20%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0" y="49377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微软雅黑"/>
              </a:defRPr>
            </a:pPr>
            <a:r>
              <a:t>stratifed（分层）划分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4400" y="5394960"/>
            <a:ext cx="10058400" cy="475488"/>
          </a:xfrm>
          <a:prstGeom prst="rect">
            <a:avLst/>
          </a:prstGeom>
          <a:solidFill>
            <a:srgbClr val="F5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7280" y="54406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A1A2E"/>
                </a:solidFill>
                <a:latin typeface="微软雅黑"/>
              </a:defRPr>
            </a:pPr>
            <a:r>
              <a:t>Clusters (K)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0" y="54406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6EFF"/>
                </a:solidFill>
                <a:latin typeface="微软雅黑"/>
              </a:defRPr>
            </a:pPr>
            <a: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0" y="54406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微软雅黑"/>
              </a:defRPr>
            </a:pPr>
            <a:r>
              <a:t>真实/伪造 二分类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微软雅黑"/>
              </a:defRPr>
            </a:pPr>
            <a:r>
              <a:t>8. 训练与评估函数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6EFF"/>
                </a:solidFill>
                <a:latin typeface="微软雅黑"/>
              </a:defRPr>
            </a:pPr>
            <a:r>
              <a:t>训练函数（train_one_epoch）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303520" cy="320040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4937759" cy="3017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def train_one_epoch(model, loader, criterion, optimizer):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    model.train()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    for inputs, labels in loader: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        inputs, labels = inputs.to(DEVICE), labels.to(DEVICE)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        optimizer.zero_grad()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        outputs = model(inputs)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        loss = criterion(outputs, labels)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        loss.backward()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        optimizer.step()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        # 记录 loss 和 accuracy...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1887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6EFF"/>
                </a:solidFill>
                <a:latin typeface="微软雅黑"/>
              </a:defRPr>
            </a:pPr>
            <a:r>
              <a:t>评估函数（evaluate）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645920"/>
            <a:ext cx="5303520" cy="274320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937759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def evaluate(model, loader, criterion):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    model.eval()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    with torch.no_grad():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        for inputs, labels in loader: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            outputs = model(inputs)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            loss = criterion(outputs, labels)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            # 统计准确率...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    return avg_loss, accuracy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0292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2E"/>
                </a:solidFill>
                <a:latin typeface="微软雅黑"/>
              </a:defRPr>
            </a:pPr>
            <a:r>
              <a:t>●  训练模式下计算梯度，更新参数</a:t>
            </a:r>
          </a:p>
          <a:p>
            <a:pPr>
              <a:spcAft>
                <a:spcPts val="600"/>
              </a:spcAft>
              <a:defRPr sz="1500">
                <a:solidFill>
                  <a:srgbClr val="1A1A2E"/>
                </a:solidFill>
                <a:latin typeface="微软雅黑"/>
              </a:defRPr>
            </a:pPr>
            <a:r>
              <a:t>●  评估模式下 torch.no_grad() 不计算梯度</a:t>
            </a:r>
          </a:p>
          <a:p>
            <a:pPr>
              <a:spcAft>
                <a:spcPts val="600"/>
              </a:spcAft>
              <a:defRPr sz="1500">
                <a:solidFill>
                  <a:srgbClr val="1A1A2E"/>
                </a:solidFill>
                <a:latin typeface="微软雅黑"/>
              </a:defRPr>
            </a:pPr>
            <a:r>
              <a:t>●  每轮输出训练/测试的 Loss 和 Accuracy</a:t>
            </a:r>
          </a:p>
          <a:p>
            <a:pPr>
              <a:spcAft>
                <a:spcPts val="600"/>
              </a:spcAft>
              <a:defRPr sz="1500">
                <a:solidFill>
                  <a:srgbClr val="1A1A2E"/>
                </a:solidFill>
                <a:latin typeface="微软雅黑"/>
              </a:defRPr>
            </a:pPr>
            <a:r>
              <a:t>●  CPU 兼容运行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微软雅黑"/>
              </a:defRPr>
            </a:pPr>
            <a:r>
              <a:t>8. 训练主循环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6400800" cy="502920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6035040" cy="4846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train_losses, train_accs = [], []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test_losses, test_accs = [], []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for epoch in range(1, EPOCHS + 1):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    train_loss, train_acc = train_one_epoch(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        model, train_loader, criterion, optimizer)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    test_loss, test_acc = evaluate(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        model, test_loader, criterion)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    train_losses.append(train_loss)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    test_losses.append(test_loss)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    train_accs.append(train_acc)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    test_accs.append(test_acc)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    print(f"Epoch {epoch}/{EPOCHS}  "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          f"Train Acc: {train_acc*100:.2f}%  "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          f"Test Acc: {test_acc*100:.2f}%")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137160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  <a:latin typeface="微软雅黑"/>
              </a:defRPr>
            </a:pPr>
            <a:r>
              <a:t>●  EPOCHS=5 可以根据需要调整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  <a:latin typeface="微软雅黑"/>
              </a:defRPr>
            </a:pPr>
            <a:r>
              <a:t>●  每轮自动保存 Loss 和 Accuracy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  <a:latin typeface="微软雅黑"/>
              </a:defRPr>
            </a:pPr>
            <a:r>
              <a:t>●  最终用于绘制训练曲线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1A2E"/>
                </a:solidFill>
              </a:defRPr>
            </a:pPr>
            <a:r>
              <a:t>9. 实验结果——Loss 与 Accuracy 曲线</a:t>
            </a:r>
          </a:p>
        </p:txBody>
      </p:sp>
      <p:pic>
        <p:nvPicPr>
          <p:cNvPr id="4" name="Picture 3" descr="training_curve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105156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微软雅黑"/>
              </a:defRPr>
            </a:pPr>
            <a:r>
              <a:t>9. 可视化代码实现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6858000" cy="502920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6492240" cy="4846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plt.figure(figsize=(12, 5))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# Loss 曲线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plt.subplot(1, 2, 1)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plt.plot(range(1, EPOCHS+1), train_losses, "b-o", label="Training Loss")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plt.plot(range(1, EPOCHS+1), test_losses, "r-o", label="Test Loss")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plt.xlabel("Epoch");  plt.ylabel("Loss")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plt.title("Loss 曲线");  plt.legend();  plt.grid(True)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# Accuracy 曲线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plt.subplot(1, 2, 2)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plt.plot(range(1, EPOCHS+1), train_accs, "b-o", label="Training Accuracy")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plt.plot(range(1, EPOCHS+1), test_accs, "r-o", label="Test Accuracy")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plt.xlabel("Epoch");  plt.ylabel("Accuracy")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plt.title("Accuracy 曲线");  plt.legend();  plt.grid(True)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plt.tight_layout()</a:t>
            </a:r>
          </a:p>
          <a:p>
            <a:pPr>
              <a:spcAft>
                <a:spcPts val="100"/>
              </a:spcAft>
              <a:defRPr sz="1200">
                <a:solidFill>
                  <a:srgbClr val="E0E0E0"/>
                </a:solidFill>
                <a:latin typeface="Consolas"/>
              </a:defRPr>
            </a:pPr>
            <a:r>
              <a:t>plt.savefig("training_curves.png", dpi=150)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371600"/>
            <a:ext cx="3657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  <a:latin typeface="微软雅黑"/>
              </a:defRPr>
            </a:pPr>
            <a:r>
              <a:t>●  双图布局: Loss (左) + Accuracy (右)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  <a:latin typeface="微软雅黑"/>
              </a:defRPr>
            </a:pPr>
            <a:r>
              <a:t>●  蓝色: 训练集 / 红色: 测试集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  <a:latin typeface="微软雅黑"/>
              </a:defRPr>
            </a:pPr>
            <a:r>
              <a:t>●  保存为 PNG 用于报告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  <a:latin typeface="微软雅黑"/>
              </a:defRPr>
            </a:pPr>
            <a:r>
              <a:t>●  准确率越高、Loss 越低说明模型越好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1A2E"/>
                </a:solidFill>
              </a:defRPr>
            </a:pPr>
            <a:r>
              <a:t>10. 预测结果展示</a:t>
            </a:r>
          </a:p>
        </p:txBody>
      </p:sp>
      <p:pic>
        <p:nvPicPr>
          <p:cNvPr id="4" name="Picture 3" descr="prediction_example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86868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418320" y="1371600"/>
            <a:ext cx="2560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  <a:r>
              <a:t>●  绿色 = 正确预测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  <a:r>
              <a:t>●  红色 = 错误预测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  <a:r>
              <a:t>●  显示置信度分数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微软雅黑"/>
              </a:defRPr>
            </a:pPr>
            <a:r>
              <a:t>10. 预测实现代码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6858000" cy="530352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280160"/>
            <a:ext cx="6492240" cy="5120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000">
                <a:solidFill>
                  <a:srgbClr val="E0E0E0"/>
                </a:solidFill>
                <a:latin typeface="Consolas"/>
              </a:defRPr>
            </a:pPr>
            <a:r>
              <a:t># 获取测试集 batch</a:t>
            </a:r>
          </a:p>
          <a:p>
            <a:pPr>
              <a:spcAft>
                <a:spcPts val="100"/>
              </a:spcAft>
              <a:defRPr sz="1000">
                <a:solidFill>
                  <a:srgbClr val="E0E0E0"/>
                </a:solidFill>
                <a:latin typeface="Consolas"/>
              </a:defRPr>
            </a:pPr>
            <a:r>
              <a:t>data_iter = iter(test_loader)</a:t>
            </a:r>
          </a:p>
          <a:p>
            <a:pPr>
              <a:spcAft>
                <a:spcPts val="100"/>
              </a:spcAft>
              <a:defRPr sz="1000">
                <a:solidFill>
                  <a:srgbClr val="E0E0E0"/>
                </a:solidFill>
                <a:latin typeface="Consolas"/>
              </a:defRPr>
            </a:pPr>
            <a:r>
              <a:t>images, labels = next(data_iter)</a:t>
            </a:r>
          </a:p>
          <a:p>
            <a:pPr>
              <a:spcAft>
                <a:spcPts val="100"/>
              </a:spcAft>
              <a:defRPr sz="1000">
                <a:solidFill>
                  <a:srgbClr val="E0E0E0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000">
                <a:solidFill>
                  <a:srgbClr val="E0E0E0"/>
                </a:solidFill>
                <a:latin typeface="Consolas"/>
              </a:defRPr>
            </a:pPr>
            <a:r>
              <a:t># 推理</a:t>
            </a:r>
          </a:p>
          <a:p>
            <a:pPr>
              <a:spcAft>
                <a:spcPts val="100"/>
              </a:spcAft>
              <a:defRPr sz="1000">
                <a:solidFill>
                  <a:srgbClr val="E0E0E0"/>
                </a:solidFill>
                <a:latin typeface="Consolas"/>
              </a:defRPr>
            </a:pPr>
            <a:r>
              <a:t>model.eval()</a:t>
            </a:r>
          </a:p>
          <a:p>
            <a:pPr>
              <a:spcAft>
                <a:spcPts val="100"/>
              </a:spcAft>
              <a:defRPr sz="1000">
                <a:solidFill>
                  <a:srgbClr val="E0E0E0"/>
                </a:solidFill>
                <a:latin typeface="Consolas"/>
              </a:defRPr>
            </a:pPr>
            <a:r>
              <a:t>with torch.no_grad():</a:t>
            </a:r>
          </a:p>
          <a:p>
            <a:pPr>
              <a:spcAft>
                <a:spcPts val="100"/>
              </a:spcAft>
              <a:defRPr sz="1000">
                <a:solidFill>
                  <a:srgbClr val="E0E0E0"/>
                </a:solidFill>
                <a:latin typeface="Consolas"/>
              </a:defRPr>
            </a:pPr>
            <a:r>
              <a:t>    outputs = model(images)</a:t>
            </a:r>
          </a:p>
          <a:p>
            <a:pPr>
              <a:spcAft>
                <a:spcPts val="100"/>
              </a:spcAft>
              <a:defRPr sz="1000">
                <a:solidFill>
                  <a:srgbClr val="E0E0E0"/>
                </a:solidFill>
                <a:latin typeface="Consolas"/>
              </a:defRPr>
            </a:pPr>
            <a:r>
              <a:t>    probs = torch.softmax(outputs, dim=1)</a:t>
            </a:r>
          </a:p>
          <a:p>
            <a:pPr>
              <a:spcAft>
                <a:spcPts val="100"/>
              </a:spcAft>
              <a:defRPr sz="1000">
                <a:solidFill>
                  <a:srgbClr val="E0E0E0"/>
                </a:solidFill>
                <a:latin typeface="Consolas"/>
              </a:defRPr>
            </a:pPr>
            <a:r>
              <a:t>    _, predicted = torch.max(outputs, 1)</a:t>
            </a:r>
          </a:p>
          <a:p>
            <a:pPr>
              <a:spcAft>
                <a:spcPts val="100"/>
              </a:spcAft>
              <a:defRPr sz="1000">
                <a:solidFill>
                  <a:srgbClr val="E0E0E0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000">
                <a:solidFill>
                  <a:srgbClr val="E0E0E0"/>
                </a:solidFill>
                <a:latin typeface="Consolas"/>
              </a:defRPr>
            </a:pPr>
            <a:r>
              <a:t># 反标准化（将归一化的图像转回可视格式）</a:t>
            </a:r>
          </a:p>
          <a:p>
            <a:pPr>
              <a:spcAft>
                <a:spcPts val="100"/>
              </a:spcAft>
              <a:defRPr sz="1000">
                <a:solidFill>
                  <a:srgbClr val="E0E0E0"/>
                </a:solidFill>
                <a:latin typeface="Consolas"/>
              </a:defRPr>
            </a:pPr>
            <a:r>
              <a:t>def denormalize(tensor):</a:t>
            </a:r>
          </a:p>
          <a:p>
            <a:pPr>
              <a:spcAft>
                <a:spcPts val="100"/>
              </a:spcAft>
              <a:defRPr sz="1000">
                <a:solidFill>
                  <a:srgbClr val="E0E0E0"/>
                </a:solidFill>
                <a:latin typeface="Consolas"/>
              </a:defRPr>
            </a:pPr>
            <a:r>
              <a:t>    mean = torch.tensor([0.485, 0.456, 0.406]).view(3,1,1)</a:t>
            </a:r>
          </a:p>
          <a:p>
            <a:pPr>
              <a:spcAft>
                <a:spcPts val="100"/>
              </a:spcAft>
              <a:defRPr sz="1000">
                <a:solidFill>
                  <a:srgbClr val="E0E0E0"/>
                </a:solidFill>
                <a:latin typeface="Consolas"/>
              </a:defRPr>
            </a:pPr>
            <a:r>
              <a:t>    std = torch.tensor([0.229, 0.224, 0.225]).view(3,1,1)</a:t>
            </a:r>
          </a:p>
          <a:p>
            <a:pPr>
              <a:spcAft>
                <a:spcPts val="100"/>
              </a:spcAft>
              <a:defRPr sz="1000">
                <a:solidFill>
                  <a:srgbClr val="E0E0E0"/>
                </a:solidFill>
                <a:latin typeface="Consolas"/>
              </a:defRPr>
            </a:pPr>
            <a:r>
              <a:t>    return torch.clamp(tensor * std + mean, 0, 1)</a:t>
            </a:r>
          </a:p>
          <a:p>
            <a:pPr>
              <a:spcAft>
                <a:spcPts val="100"/>
              </a:spcAft>
              <a:defRPr sz="1000">
                <a:solidFill>
                  <a:srgbClr val="E0E0E0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000">
                <a:solidFill>
                  <a:srgbClr val="E0E0E0"/>
                </a:solidFill>
                <a:latin typeface="Consolas"/>
              </a:defRPr>
            </a:pPr>
            <a:r>
              <a:t># matplotlib 展示</a:t>
            </a:r>
          </a:p>
          <a:p>
            <a:pPr>
              <a:spcAft>
                <a:spcPts val="100"/>
              </a:spcAft>
              <a:defRPr sz="1000">
                <a:solidFill>
                  <a:srgbClr val="E0E0E0"/>
                </a:solidFill>
                <a:latin typeface="Consolas"/>
              </a:defRPr>
            </a:pPr>
            <a:r>
              <a:t>plt.figure(figsize=(14, 6))</a:t>
            </a:r>
          </a:p>
          <a:p>
            <a:pPr>
              <a:spcAft>
                <a:spcPts val="100"/>
              </a:spcAft>
              <a:defRPr sz="1000">
                <a:solidFill>
                  <a:srgbClr val="E0E0E0"/>
                </a:solidFill>
                <a:latin typeface="Consolas"/>
              </a:defRPr>
            </a:pPr>
            <a:r>
              <a:t>for i in range(8):</a:t>
            </a:r>
          </a:p>
          <a:p>
            <a:pPr>
              <a:spcAft>
                <a:spcPts val="100"/>
              </a:spcAft>
              <a:defRPr sz="1000">
                <a:solidFill>
                  <a:srgbClr val="E0E0E0"/>
                </a:solidFill>
                <a:latin typeface="Consolas"/>
              </a:defRPr>
            </a:pPr>
            <a:r>
              <a:t>    plt.subplot(2, 4, i+1)</a:t>
            </a:r>
          </a:p>
          <a:p>
            <a:pPr>
              <a:spcAft>
                <a:spcPts val="100"/>
              </a:spcAft>
              <a:defRPr sz="1000">
                <a:solidFill>
                  <a:srgbClr val="E0E0E0"/>
                </a:solidFill>
                <a:latin typeface="Consolas"/>
              </a:defRPr>
            </a:pPr>
            <a:r>
              <a:t>    img = denormalize(images[i].cpu())</a:t>
            </a:r>
          </a:p>
          <a:p>
            <a:pPr>
              <a:spcAft>
                <a:spcPts val="100"/>
              </a:spcAft>
              <a:defRPr sz="1000">
                <a:solidFill>
                  <a:srgbClr val="E0E0E0"/>
                </a:solidFill>
                <a:latin typeface="Consolas"/>
              </a:defRPr>
            </a:pPr>
            <a:r>
              <a:t>    plt.imshow(img.permute(1,2,0))</a:t>
            </a:r>
          </a:p>
          <a:p>
            <a:pPr>
              <a:spcAft>
                <a:spcPts val="100"/>
              </a:spcAft>
              <a:defRPr sz="1000">
                <a:solidFill>
                  <a:srgbClr val="E0E0E0"/>
                </a:solidFill>
                <a:latin typeface="Consolas"/>
              </a:defRPr>
            </a:pPr>
            <a:r>
              <a:t>    color = "green" if pred==label else "red"</a:t>
            </a:r>
          </a:p>
          <a:p>
            <a:pPr>
              <a:spcAft>
                <a:spcPts val="100"/>
              </a:spcAft>
              <a:defRPr sz="1000">
                <a:solidFill>
                  <a:srgbClr val="E0E0E0"/>
                </a:solidFill>
                <a:latin typeface="Consolas"/>
              </a:defRPr>
            </a:pPr>
            <a:r>
              <a:t>    plt.title(f"True: {label} / Pred: {pred}")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371600"/>
            <a:ext cx="3657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  <a:latin typeface="微软雅黑"/>
              </a:defRPr>
            </a:pPr>
            <a:r>
              <a:t>●  softmax 输出概率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  <a:latin typeface="微软雅黑"/>
              </a:defRPr>
            </a:pPr>
            <a:r>
              <a:t>●  denormalize 还原可视化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  <a:latin typeface="微软雅黑"/>
              </a:defRPr>
            </a:pPr>
            <a:r>
              <a:t>●  绿色正确 / 红色错误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  <a:latin typeface="微软雅黑"/>
              </a:defRPr>
            </a:pPr>
            <a:r>
              <a:t>●  子图排列 2行×4列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11. 总结与展望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B4D8"/>
                </a:solidFill>
                <a:latin typeface="微软雅黑"/>
              </a:defRPr>
            </a:pPr>
            <a:r>
              <a:t>实验成果：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9601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微软雅黑"/>
              </a:defRPr>
            </a:pPr>
            <a:r>
              <a:t>●  基于 ResNet18 迁移学习实现了深度伪造图像分类系统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微软雅黑"/>
              </a:defRPr>
            </a:pPr>
            <a:r>
              <a:t>●  通过 K-means 聚类解决了无标注数据的标签生成问题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微软雅黑"/>
              </a:defRPr>
            </a:pPr>
            <a:r>
              <a:t>●  在 25,000 张图像上完成了完整的训练与评估流程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微软雅黑"/>
              </a:defRPr>
            </a:pPr>
            <a:r>
              <a:t>●  t-SNE 可视化证实两个类别在特征空间有较好的可分性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B4D8"/>
                </a:solidFill>
                <a:latin typeface="微软雅黑"/>
              </a:defRPr>
            </a:pPr>
            <a:r>
              <a:t>改进方向：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389120"/>
            <a:ext cx="9601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微软雅黑"/>
              </a:defRPr>
            </a:pPr>
            <a:r>
              <a:t>●  使用真实标注数据替代伪标签，可获取准确率确切的评估指标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微软雅黑"/>
              </a:defRPr>
            </a:pPr>
            <a:r>
              <a:t>●  尝试更深的网络（ResNet50, EfficientNet）或视觉 Transformer（ViT）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微软雅黑"/>
              </a:defRPr>
            </a:pPr>
            <a:r>
              <a:t>●  增加数据增强策略（随机旋转、裁剪、CutMix 等）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微软雅黑"/>
              </a:defRPr>
            </a:pPr>
            <a:r>
              <a:t>●  利用 GPU 加速可大幅缩短训练时间，支持更大的 batch size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感谢观看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8457</Words>
  <Application>WPS 演示</Application>
  <PresentationFormat>On-screen Show (4:3)</PresentationFormat>
  <Paragraphs>487</Paragraphs>
  <Slides>20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39" baseType="lpstr">
      <vt:lpstr>Arial</vt:lpstr>
      <vt:lpstr>宋体</vt:lpstr>
      <vt:lpstr>Wingdings</vt:lpstr>
      <vt:lpstr>Arial</vt:lpstr>
      <vt:lpstr>微软雅黑</vt:lpstr>
      <vt:lpstr>汉仪旗黑</vt:lpstr>
      <vt:lpstr>Consolas</vt:lpstr>
      <vt:lpstr>Calibri</vt:lpstr>
      <vt:lpstr>Helvetica Neue</vt:lpstr>
      <vt:lpstr>宋体</vt:lpstr>
      <vt:lpstr>汉仪书宋二KW</vt:lpstr>
      <vt:lpstr>微软雅黑</vt:lpstr>
      <vt:lpstr>Arial Unicode MS</vt:lpstr>
      <vt:lpstr>Thonburi</vt:lpstr>
      <vt:lpstr>Consolas</vt:lpstr>
      <vt:lpstr>微软雅黑</vt:lpstr>
      <vt:lpstr>苹方-简</vt:lpstr>
      <vt:lpstr>Apple Color Emoji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吴佳鑫</cp:lastModifiedBy>
  <cp:revision>3</cp:revision>
  <dcterms:created xsi:type="dcterms:W3CDTF">2026-05-15T10:52:22Z</dcterms:created>
  <dcterms:modified xsi:type="dcterms:W3CDTF">2026-05-15T10:52:22Z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C8F5F414709B92142AE4066AE7E56B25_42</vt:lpwstr>
  </property>
  <property fmtid="{D5CDD505-2E9C-101B-9397-08002B2CF9AE}" pid="3" name="KSOProductBuildVer">
    <vt:lpwstr>2052-12.1.25867.25867</vt:lpwstr>
  </property>
</Properties>
</file>